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LoRA test loss</c:v>
                </c:pt>
              </c:strCache>
            </c:strRef>
          </c:tx>
          <c:spPr>
            <a:solidFill>
              <a:srgbClr val="F97316"/>
            </a:solidFill>
            <a:ln w="38100" cap="flat">
              <a:solidFill>
                <a:srgbClr val="F97316"/>
              </a:solidFill>
              <a:prstDash val="solid"/>
              <a:round/>
            </a:ln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F97316"/>
              </a:solidFill>
              <a:ln w="9525" cap="flat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r=4</c:v>
                  </c:pt>
                  <c:pt idx="1">
                    <c:v>r=16</c:v>
                  </c:pt>
                  <c:pt idx="2">
                    <c:v>r=64</c:v>
                  </c:pt>
                  <c:pt idx="3">
                    <c:v>r=128</c:v>
                  </c:pt>
                  <c:pt idx="4">
                    <c:v>r=256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1.34</c:v>
                </c:pt>
                <c:pt idx="1">
                  <c:v>0.24</c:v>
                </c:pt>
                <c:pt idx="2">
                  <c:v>0.107</c:v>
                </c:pt>
                <c:pt idx="3">
                  <c:v>0.08</c:v>
                </c:pt>
                <c:pt idx="4">
                  <c:v>0.06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Full fine-tune baseline</c:v>
                </c:pt>
              </c:strCache>
            </c:strRef>
          </c:tx>
          <c:spPr>
            <a:solidFill>
              <a:srgbClr val="0D9488"/>
            </a:solidFill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r=4</c:v>
                  </c:pt>
                  <c:pt idx="1">
                    <c:v>r=16</c:v>
                  </c:pt>
                  <c:pt idx="2">
                    <c:v>r=64</c:v>
                  </c:pt>
                  <c:pt idx="3">
                    <c:v>r=128</c:v>
                  </c:pt>
                  <c:pt idx="4">
                    <c:v>r=256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0.0176</c:v>
                </c:pt>
                <c:pt idx="1">
                  <c:v>0.0176</c:v>
                </c:pt>
                <c:pt idx="2">
                  <c:v>0.0176</c:v>
                </c:pt>
                <c:pt idx="3">
                  <c:v>0.0176</c:v>
                </c:pt>
                <c:pt idx="4">
                  <c:v>0.0176</c:v>
                </c:pt>
              </c:numCache>
            </c:numRef>
          </c:val>
          <c:smooth val="1"/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4748B"/>
                    </a:solidFill>
                    <a:latin typeface="Arial"/>
                  </a:rPr>
                  <a:t>LoRA rank 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4748B"/>
                    </a:solidFill>
                    <a:latin typeface="Arial"/>
                  </a:rPr>
                  <a:t>Test loss (lower is better)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 w="12700" cap="flat">
      <a:solidFill>
        <a:srgbClr val="E5E7EB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548640"/>
            <a:ext cx="1005840" cy="731520"/>
          </a:xfrm>
          <a:prstGeom prst="line">
            <a:avLst/>
          </a:prstGeom>
          <a:noFill/>
          <a:ln w="12700">
            <a:solidFill>
              <a:srgbClr val="3B4787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548640"/>
            <a:ext cx="-548640" cy="1188720"/>
          </a:xfrm>
          <a:prstGeom prst="line">
            <a:avLst/>
          </a:prstGeom>
          <a:noFill/>
          <a:ln w="12700">
            <a:solidFill>
              <a:srgbClr val="3B4787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64240" y="1280160"/>
            <a:ext cx="-1554480" cy="457200"/>
          </a:xfrm>
          <a:prstGeom prst="line">
            <a:avLst/>
          </a:prstGeom>
          <a:noFill/>
          <a:ln w="12700">
            <a:solidFill>
              <a:srgbClr val="3B4787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1280160"/>
            <a:ext cx="-365760" cy="1097280"/>
          </a:xfrm>
          <a:prstGeom prst="line">
            <a:avLst/>
          </a:prstGeom>
          <a:noFill/>
          <a:ln w="12700">
            <a:solidFill>
              <a:srgbClr val="3B4787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0" y="1737360"/>
            <a:ext cx="-365760" cy="1005840"/>
          </a:xfrm>
          <a:prstGeom prst="line">
            <a:avLst/>
          </a:prstGeom>
          <a:noFill/>
          <a:ln w="12700">
            <a:solidFill>
              <a:srgbClr val="3B4787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0" y="2377440"/>
            <a:ext cx="822960" cy="548640"/>
          </a:xfrm>
          <a:prstGeom prst="line">
            <a:avLst/>
          </a:prstGeom>
          <a:noFill/>
          <a:ln w="12700">
            <a:solidFill>
              <a:srgbClr val="3B4787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98480" y="2377440"/>
            <a:ext cx="-1554480" cy="365760"/>
          </a:xfrm>
          <a:prstGeom prst="line">
            <a:avLst/>
          </a:prstGeom>
          <a:noFill/>
          <a:ln w="12700">
            <a:solidFill>
              <a:srgbClr val="3B4787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85248" y="47548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91088" y="120700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36608" y="166420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230428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48288" y="285292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70848" y="267004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0" y="3931920"/>
            <a:ext cx="0" cy="-1463040"/>
          </a:xfrm>
          <a:prstGeom prst="line">
            <a:avLst/>
          </a:prstGeom>
          <a:noFill/>
          <a:ln w="15240">
            <a:solidFill>
              <a:srgbClr val="3B4787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0" y="2468880"/>
            <a:ext cx="1417320" cy="914400"/>
          </a:xfrm>
          <a:prstGeom prst="line">
            <a:avLst/>
          </a:prstGeom>
          <a:noFill/>
          <a:ln w="12700">
            <a:solidFill>
              <a:srgbClr val="3B4787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0" y="3931920"/>
            <a:ext cx="1417320" cy="-548640"/>
          </a:xfrm>
          <a:prstGeom prst="line">
            <a:avLst/>
          </a:prstGeom>
          <a:noFill/>
          <a:ln w="15240">
            <a:solidFill>
              <a:srgbClr val="3B4787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43400" y="3383280"/>
            <a:ext cx="-182880" cy="1554480"/>
          </a:xfrm>
          <a:prstGeom prst="line">
            <a:avLst/>
          </a:prstGeom>
          <a:noFill/>
          <a:ln w="12700">
            <a:solidFill>
              <a:srgbClr val="3B4787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0" y="3931920"/>
            <a:ext cx="1234440" cy="1005840"/>
          </a:xfrm>
          <a:prstGeom prst="line">
            <a:avLst/>
          </a:prstGeom>
          <a:noFill/>
          <a:ln w="15240">
            <a:solidFill>
              <a:srgbClr val="3B4787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60520" y="4937760"/>
            <a:ext cx="-1417320" cy="548640"/>
          </a:xfrm>
          <a:prstGeom prst="line">
            <a:avLst/>
          </a:prstGeom>
          <a:noFill/>
          <a:ln w="12700">
            <a:solidFill>
              <a:srgbClr val="3B4787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26080" y="3931920"/>
            <a:ext cx="-182880" cy="1554480"/>
          </a:xfrm>
          <a:prstGeom prst="line">
            <a:avLst/>
          </a:prstGeom>
          <a:noFill/>
          <a:ln w="15240">
            <a:solidFill>
              <a:srgbClr val="3B4787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0" y="5486400"/>
            <a:ext cx="-1234440" cy="-914400"/>
          </a:xfrm>
          <a:prstGeom prst="line">
            <a:avLst/>
          </a:prstGeom>
          <a:noFill/>
          <a:ln w="12700">
            <a:solidFill>
              <a:srgbClr val="3B4787">
                <a:alpha val="6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26080" y="3931920"/>
            <a:ext cx="-1417320" cy="640080"/>
          </a:xfrm>
          <a:prstGeom prst="line">
            <a:avLst/>
          </a:prstGeom>
          <a:noFill/>
          <a:ln w="15240">
            <a:solidFill>
              <a:srgbClr val="3B4787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08760" y="4572000"/>
            <a:ext cx="0" cy="-1463040"/>
          </a:xfrm>
          <a:prstGeom prst="line">
            <a:avLst/>
          </a:prstGeom>
          <a:noFill/>
          <a:ln w="12700">
            <a:solidFill>
              <a:srgbClr val="3B4787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26080" y="3931920"/>
            <a:ext cx="-1417320" cy="-822960"/>
          </a:xfrm>
          <a:prstGeom prst="line">
            <a:avLst/>
          </a:prstGeom>
          <a:noFill/>
          <a:ln w="15240">
            <a:solidFill>
              <a:srgbClr val="3B4787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08760" y="3108960"/>
            <a:ext cx="1417320" cy="-640080"/>
          </a:xfrm>
          <a:prstGeom prst="line">
            <a:avLst/>
          </a:prstGeom>
          <a:noFill/>
          <a:ln w="12700">
            <a:solidFill>
              <a:srgbClr val="3B4787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61488" y="2304288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78808" y="3218688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95928" y="4773168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78608" y="5321808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44168" y="4407408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44168" y="2944368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70048" y="3675888"/>
            <a:ext cx="512064" cy="512064"/>
          </a:xfrm>
          <a:prstGeom prst="ellipse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52160" y="10972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REPORT  ·  MAY 2026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852160" y="155448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Parameter-Efficient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Adaptation of TokenGT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LoRA</a:t>
            </a:r>
            <a:endParaRPr lang="en-US" sz="3800" dirty="0"/>
          </a:p>
        </p:txBody>
      </p:sp>
      <p:sp>
        <p:nvSpPr>
          <p:cNvPr id="36" name="Text 34"/>
          <p:cNvSpPr/>
          <p:nvPr/>
        </p:nvSpPr>
        <p:spPr>
          <a:xfrm>
            <a:off x="5852160" y="41148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tiny low-rank adapter teach a graph transformer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lessons full fine-tuning does?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852160" y="5212080"/>
            <a:ext cx="54864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52160" y="53492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Revak Sai  ·  Maloth Vishal Nayak  ·  N Harsha Vardhan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852160" y="57150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22b1038  ·  22b1015  ·  22b0977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852160" y="60350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286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Graphs are everywhere — but they don't fit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neatly into standard deep learning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292608" cy="292608"/>
          </a:xfrm>
          <a:prstGeom prst="ellipse">
            <a:avLst/>
          </a:prstGeom>
          <a:solidFill>
            <a:srgbClr val="CCE7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" y="252374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377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networks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Friends, follows, retweets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292608" cy="292608"/>
          </a:xfrm>
          <a:prstGeom prst="ellipse">
            <a:avLst/>
          </a:prstGeom>
          <a:solidFill>
            <a:srgbClr val="CCE7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" y="330098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3474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Atoms bonded into structures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292608" cy="292608"/>
          </a:xfrm>
          <a:prstGeom prst="ellipse">
            <a:avLst/>
          </a:prstGeom>
          <a:solidFill>
            <a:srgbClr val="CCE7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0664" y="407822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51560" y="4251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tied by relations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754880"/>
            <a:ext cx="292608" cy="292608"/>
          </a:xfrm>
          <a:prstGeom prst="ellipse">
            <a:avLst/>
          </a:prstGeom>
          <a:solidFill>
            <a:srgbClr val="CCE7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0664" y="485546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 systems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51560" y="5029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and items, again as a graph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35040" y="2194560"/>
            <a:ext cx="54864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0" dist="508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2194560"/>
            <a:ext cx="91440" cy="3931920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2377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GNN bottleneck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309360" y="27889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graph models pass messages between neighbours. That's local — and it shows.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9360" y="3611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Long-range info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09360" y="3886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distant nodes needs many layers.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4389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Over-smoothing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09360" y="4663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layers makes node vectors collapse together.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09360" y="5166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cost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09360" y="5440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scales poorly on large graphs.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TokenGT × LoRA  ·  Final Project Report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286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WE BUILT 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TokenGT: treat the whole graph as a sequence of tokens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Transformer doesn't 'know' about edges.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TokenGT fixes that without inventing a new architecture: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411480" cy="411480"/>
          </a:xfrm>
          <a:prstGeom prst="ellipse">
            <a:avLst/>
          </a:prstGeom>
          <a:solidFill>
            <a:srgbClr val="0F1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27249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 nodes and edges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29992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and each edge becomes its own token.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411480" cy="411480"/>
          </a:xfrm>
          <a:prstGeom prst="ellipse">
            <a:avLst/>
          </a:prstGeom>
          <a:solidFill>
            <a:srgbClr val="0F1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35021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structural embeddings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37764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Laplacian eigenvectors carry the graph's geometry.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297680"/>
            <a:ext cx="411480" cy="411480"/>
          </a:xfrm>
          <a:prstGeom prst="ellipse">
            <a:avLst/>
          </a:prstGeom>
          <a:solidFill>
            <a:srgbClr val="0F1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297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42793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type identifiers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45537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model knows 'this token is a node, that one is an edge'.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5074920"/>
            <a:ext cx="411480" cy="411480"/>
          </a:xfrm>
          <a:prstGeom prst="ellipse">
            <a:avLst/>
          </a:prstGeom>
          <a:solidFill>
            <a:srgbClr val="0F1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074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50566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it through a Transformer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53309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self-attention — every token sees every other.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0" y="1828800"/>
            <a:ext cx="466344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132320" y="2011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graph to sequence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0" y="2788920"/>
            <a:ext cx="914400" cy="-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0" y="2606040"/>
            <a:ext cx="274320" cy="9144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61120" y="3520440"/>
            <a:ext cx="-914400" cy="228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0" y="2788920"/>
            <a:ext cx="274320" cy="9601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0" y="2788920"/>
            <a:ext cx="1188720" cy="7315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26096" y="2642616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26096" y="2642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540496" y="2459736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40496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814816" y="3374136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14816" y="3374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900416" y="3602736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00416" y="3602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144000" y="3154680"/>
            <a:ext cx="548640" cy="0"/>
          </a:xfrm>
          <a:prstGeom prst="line">
            <a:avLst/>
          </a:prstGeom>
          <a:noFill/>
          <a:ln w="25400">
            <a:solidFill>
              <a:srgbClr val="0F15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52560" y="2926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7132320" y="4160520"/>
            <a:ext cx="9144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32320" y="41605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183880" y="4160520"/>
            <a:ext cx="9144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83880" y="41605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235440" y="4160520"/>
            <a:ext cx="9144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35440" y="41605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0287000" y="4160520"/>
            <a:ext cx="91440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287000" y="41605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132320" y="4709160"/>
            <a:ext cx="91440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32320" y="47091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e₁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183880" y="4709160"/>
            <a:ext cx="91440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83880" y="47091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e₂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9235440" y="4709160"/>
            <a:ext cx="91440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235440" y="47091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e₃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10287000" y="4709160"/>
            <a:ext cx="91440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287000" y="47091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e₄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132320" y="5486400"/>
            <a:ext cx="4114800" cy="502920"/>
          </a:xfrm>
          <a:prstGeom prst="rect">
            <a:avLst/>
          </a:prstGeom>
          <a:solidFill>
            <a:srgbClr val="0F1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32320" y="54864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encoder (self-attention)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TokenGT × LoRA  ·  Final Project Report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286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QUESTION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fine-tuning works. But do we really need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move every weight?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120640" cy="4206240"/>
          </a:xfrm>
          <a:prstGeom prst="rect">
            <a:avLst/>
          </a:prstGeom>
          <a:solidFill>
            <a:srgbClr val="0F1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51460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TokenGT be adapted using a parameter-efficient method like LoRA — and how much does the rank really matter?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14400" y="5029200"/>
            <a:ext cx="457200" cy="0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51663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freezes the model and learns a tiny low-rank patch instead.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updates, smaller memory bill, smaller storage.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LoRA changes the math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17920" y="2240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each linear layer's update with a low-rank patch: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2743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0" y="2743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W 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0" y="3246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98080" y="3246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W x </a:t>
            </a:r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B A x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7920" y="4023360"/>
            <a:ext cx="1463040" cy="1463040"/>
          </a:xfrm>
          <a:prstGeom prst="rect">
            <a:avLst/>
          </a:prstGeom>
          <a:solidFill>
            <a:srgbClr val="C7CD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402336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0" y="44805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8183880" y="4023360"/>
            <a:ext cx="411480" cy="1463040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4023360"/>
            <a:ext cx="411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641080" y="4572000"/>
            <a:ext cx="146304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41080" y="4572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41080" y="5029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241280" y="4663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only B and A are trained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TokenGT × LoRA  ·  Final Project Report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286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IMPLEMENTATION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changed in the TokenGT codebase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59359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91440" cy="320040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11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FILE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5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lora_utils.py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LoRALinear wrapper around nn.Linear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apply_lora_to_model(...)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freeze_non_lora_params(...)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Param-counting utilities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16552" y="1783080"/>
            <a:ext cx="359359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16552" y="1783080"/>
            <a:ext cx="91440" cy="32004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2011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90872" y="2286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5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train.py + entry.py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90872" y="292608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CLI args: rank, alpha, dropout, target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updates only trainable params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loading aware of LoRA layers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 path, same loss, same eval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93024" y="1783080"/>
            <a:ext cx="359359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93024" y="1783080"/>
            <a:ext cx="91440" cy="3200400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67344" y="2011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NEW, ONE PER RANK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467344" y="2286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5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Shell scripts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67344" y="292608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sparse-lap-type-lora-r4.sh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...-r16.sh, -r64.sh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...-r128.sh, -r256.sh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baseline (full fine-tune)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212080"/>
            <a:ext cx="10881360" cy="1143000"/>
          </a:xfrm>
          <a:prstGeom prst="rect">
            <a:avLst/>
          </a:prstGeom>
          <a:solidFill>
            <a:srgbClr val="0F1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349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injection target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565099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attn.fc1   ·   attn.fc_v   ·   attn.fc_out</a:t>
            </a:r>
            <a:pPr indent="0" marL="0">
              <a:buNone/>
            </a:pPr>
            <a:r>
              <a:rPr lang="en-US" sz="1300" i="1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across layers 0, 1, 2  —  attention-only adaptation; FFN layers stay frozen.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TokenGT × LoRA  ·  Final Project Report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286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TokenGT, the same data, the same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— only the adapter rank moves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5943600" cy="4297680"/>
        </p:xfrm>
        <a:graphic>
          <a:graphicData uri="http://schemas.openxmlformats.org/drawingml/2006/table">
            <a:tbl>
              <a:tblPr/>
              <a:tblGrid>
                <a:gridCol w="2468880"/>
                <a:gridCol w="34747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3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 Barabási–Albert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 graph representation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identifier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Laplacian eigenvectors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dim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FFN dim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Q/K dim · V dim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· 128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updates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  (warmup 1000)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LR · End LR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1e-4 · 1e-9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 dropout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 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5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× rank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040880" y="1828800"/>
            <a:ext cx="45720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040880" y="1828800"/>
            <a:ext cx="91440" cy="4297680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0" y="2011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KNOB WE TURN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31520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LoRA rank r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7315200" y="3154680"/>
            <a:ext cx="1097280" cy="914400"/>
          </a:xfrm>
          <a:prstGeom prst="ellipse">
            <a:avLst/>
          </a:prstGeom>
          <a:solidFill>
            <a:srgbClr val="CCE7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0" y="31546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8732520" y="3154680"/>
            <a:ext cx="1097280" cy="914400"/>
          </a:xfrm>
          <a:prstGeom prst="ellipse">
            <a:avLst/>
          </a:prstGeom>
          <a:solidFill>
            <a:srgbClr val="CCE7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32520" y="31546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10149840" y="3154680"/>
            <a:ext cx="1097280" cy="914400"/>
          </a:xfrm>
          <a:prstGeom prst="ellipse">
            <a:avLst/>
          </a:prstGeom>
          <a:solidFill>
            <a:srgbClr val="CCE7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149840" y="31546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7315200" y="4251960"/>
            <a:ext cx="1097280" cy="914400"/>
          </a:xfrm>
          <a:prstGeom prst="ellipse">
            <a:avLst/>
          </a:prstGeom>
          <a:solidFill>
            <a:srgbClr val="CCE7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0" y="42519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128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8732520" y="4251960"/>
            <a:ext cx="1097280" cy="9144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32520" y="42519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256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315200" y="54406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rank = one experiment.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2r in every run.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= full fine-tune.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TokenGT × LoRA  ·  Final Project Report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286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AT A GLANCE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headline numbers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9496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0" dist="50800" dir="54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011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FINE-TUNE BASELINE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0.0176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914400" y="4160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loss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4709160"/>
            <a:ext cx="4572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8463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parameter trainable.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ceiling we're trying to reach.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783080"/>
            <a:ext cx="5394960" cy="4297680"/>
          </a:xfrm>
          <a:prstGeom prst="rect">
            <a:avLst/>
          </a:prstGeom>
          <a:solidFill>
            <a:srgbClr val="0F15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011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LoRA RUN  (RANK 256)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0" y="242316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0.06</a:t>
            </a:r>
            <a:endParaRPr lang="en-US" sz="9600" dirty="0"/>
          </a:p>
        </p:txBody>
      </p:sp>
      <p:sp>
        <p:nvSpPr>
          <p:cNvPr id="14" name="Text 12"/>
          <p:cNvSpPr/>
          <p:nvPr/>
        </p:nvSpPr>
        <p:spPr>
          <a:xfrm>
            <a:off x="6492240" y="4160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loss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92240" y="4709160"/>
            <a:ext cx="457200" cy="0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48463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Attention-only LoRA.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Close, but not the baseline — about 3.4× higher loss.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TokenGT × LoRA  ·  Final Project Report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286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THE TREND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Loss falls smoothly as rank rises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737360"/>
          <a:ext cx="71323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092440" y="1783080"/>
            <a:ext cx="34290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92440" y="1783080"/>
            <a:ext cx="91440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66760" y="19202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82%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8366760" y="26243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loss r=4 → r=16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092440" y="3291840"/>
            <a:ext cx="34290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92440" y="3291840"/>
            <a:ext cx="91440" cy="1325880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66760" y="34290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95.5%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8366760" y="41330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loss r=4 → r=256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092440" y="4800600"/>
            <a:ext cx="34290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92440" y="4800600"/>
            <a:ext cx="91440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66760" y="49377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3.4×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8366760" y="56418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that remains vs baseline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TokenGT × LoRA  ·  Final Project Report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286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TREND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higher rank consistently win?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 is the adapter's vocabulary.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5760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LoRA update is constrained to live in an r-dimensional subspace of the full weight matrix.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 = 4, that subspace is too narrow to express what the task needs — the loss stays around 1.34, barely better than untrained.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 grows, the adapter can express richer corrections, and the loss drops in a clean monotonic curve.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plateau yet at r = 256 — meaning more rank could still help. The task wants a fairly expressive update.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949440" y="1828800"/>
            <a:ext cx="457200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28600" dist="38100" dir="54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223760" y="2057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Subspace capacity, by rank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223760" y="2606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818120" y="2697480"/>
            <a:ext cx="182880" cy="365760"/>
          </a:xfrm>
          <a:prstGeom prst="rect">
            <a:avLst/>
          </a:prstGeom>
          <a:solidFill>
            <a:srgbClr val="0D9488">
              <a:alpha val="3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2606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1.34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223760" y="32918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r=16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18120" y="3383280"/>
            <a:ext cx="457200" cy="365760"/>
          </a:xfrm>
          <a:prstGeom prst="rect">
            <a:avLst/>
          </a:prstGeom>
          <a:solidFill>
            <a:srgbClr val="0D9488">
              <a:alpha val="4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3291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0.24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223760" y="3977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r=64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18120" y="4069080"/>
            <a:ext cx="914400" cy="365760"/>
          </a:xfrm>
          <a:prstGeom prst="rect">
            <a:avLst/>
          </a:prstGeom>
          <a:solidFill>
            <a:srgbClr val="0D9488">
              <a:alpha val="5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0" y="3977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0.107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23760" y="4663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r=128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18120" y="4754880"/>
            <a:ext cx="1554480" cy="365760"/>
          </a:xfrm>
          <a:prstGeom prst="rect">
            <a:avLst/>
          </a:prstGeom>
          <a:solidFill>
            <a:srgbClr val="0D9488">
              <a:alpha val="6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0" y="46634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0.08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223760" y="5349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r=256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818120" y="5440680"/>
            <a:ext cx="2194560" cy="365760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0" y="5349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0.06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TokenGT × LoRA  ·  Final Project Report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286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ANALYSIS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why didn't LoRA beat the baseline?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reasons, in order of how much we think they matter: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10881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624328"/>
            <a:ext cx="548640" cy="5486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624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251460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adapted attention only — FFN was frozen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00200" y="28986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blocks carry a large share of a Transformer's task-specific capacity. Leaving them untouched caps how far LoRA can go on this task.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10881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3950208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950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384048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 is genuinely strong (loss = 0.0176)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00200" y="422452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full fine-tuning already squeezes the loss this low, parameter-efficient methods have very little headroom to compete on raw performance.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983480"/>
            <a:ext cx="108813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5276088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276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00200" y="516636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didn't tune around LoRA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00200" y="555040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LR, same dropout (0.05), same 3000 updates. LoRA usually likes a higher LR and more steps at high rank — we kept things uniform for a clean rank sweep.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TokenGT × LoRA  ·  Final Project Report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286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HONEST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our experiments don't tell us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91440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hyperparameter search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swept rank thoroughly. Learning rate, dropout, and training length stayed fixed.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783080"/>
            <a:ext cx="91440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96596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Attention-only LoRA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2331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FFN layers were never adapted, which leaves a lot of capacity on the table.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200400"/>
            <a:ext cx="91440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3832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dataset only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37490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Barabási–Albert graphs. Real-world molecules or social networks may behave differently.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320040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3200400"/>
            <a:ext cx="91440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3832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Compute-bounded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37490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Disk, GPU, and time limits prevented a full grid search across all hyperparameters.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17720"/>
            <a:ext cx="54406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77800" dist="25400" dir="5400000">
              <a:srgbClr val="00000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4617720"/>
            <a:ext cx="91440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8006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script drift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51663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differences in batch size and checkpoint names between scripts; main training setup stayed consistent.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break the trend, but they bound how strong our claims can be.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TokenGT × LoRA  ·  Final Project Report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286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NEXT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5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experiments we'd run with more time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59359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03200" dist="381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01168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on attention + FFN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971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attention-only restriction.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3410712"/>
            <a:ext cx="36576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474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likely to close the baseline gap.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16552" y="1783080"/>
            <a:ext cx="359359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03200" dist="381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90872" y="201168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90872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90872" y="2560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(or zero) LoRA dropout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90872" y="2971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 may be over-regularising a small synthetic task.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90872" y="3410712"/>
            <a:ext cx="36576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90872" y="3474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fitting, cleaner curves.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93024" y="1783080"/>
            <a:ext cx="359359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03200" dist="38100" dir="54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67344" y="201168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67344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67344" y="2560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peak learning rate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67344" y="2971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3e-4, 5e-4, 1e-3 — LoRA usually likes more.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467344" y="3410712"/>
            <a:ext cx="36576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67344" y="3474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r=4/16 results in particular.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4023360"/>
            <a:ext cx="359359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03200" dist="38100" dir="54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4400" y="42519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4400" y="4800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training at high rank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4400" y="5212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5k–10k updates for r=128, r=256.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14400" y="5650992"/>
            <a:ext cx="36576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5715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High-rank models may not have converged.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16552" y="4023360"/>
            <a:ext cx="359359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03200" dist="38100" dir="54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90872" y="42519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90872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690872" y="4800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TokenGT, more ranks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690872" y="52120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n_layers = 3, 4, 6 and rank 512+.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90872" y="5650992"/>
            <a:ext cx="36576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90872" y="5715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whether LoRA scales with depth.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88136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TokenGT × LoRA  ·  Final Project Report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548640"/>
            <a:ext cx="1005840" cy="731520"/>
          </a:xfrm>
          <a:prstGeom prst="line">
            <a:avLst/>
          </a:prstGeom>
          <a:noFill/>
          <a:ln w="12700">
            <a:solidFill>
              <a:srgbClr val="3B4787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548640"/>
            <a:ext cx="-548640" cy="1188720"/>
          </a:xfrm>
          <a:prstGeom prst="line">
            <a:avLst/>
          </a:prstGeom>
          <a:noFill/>
          <a:ln w="12700">
            <a:solidFill>
              <a:srgbClr val="3B4787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64240" y="1280160"/>
            <a:ext cx="-1554480" cy="457200"/>
          </a:xfrm>
          <a:prstGeom prst="line">
            <a:avLst/>
          </a:prstGeom>
          <a:noFill/>
          <a:ln w="12700">
            <a:solidFill>
              <a:srgbClr val="3B4787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1280160"/>
            <a:ext cx="-365760" cy="1097280"/>
          </a:xfrm>
          <a:prstGeom prst="line">
            <a:avLst/>
          </a:prstGeom>
          <a:noFill/>
          <a:ln w="12700">
            <a:solidFill>
              <a:srgbClr val="3B4787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0" y="1737360"/>
            <a:ext cx="-365760" cy="1005840"/>
          </a:xfrm>
          <a:prstGeom prst="line">
            <a:avLst/>
          </a:prstGeom>
          <a:noFill/>
          <a:ln w="12700">
            <a:solidFill>
              <a:srgbClr val="3B4787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0" y="2377440"/>
            <a:ext cx="822960" cy="548640"/>
          </a:xfrm>
          <a:prstGeom prst="line">
            <a:avLst/>
          </a:prstGeom>
          <a:noFill/>
          <a:ln w="12700">
            <a:solidFill>
              <a:srgbClr val="3B4787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98480" y="2377440"/>
            <a:ext cx="-1554480" cy="365760"/>
          </a:xfrm>
          <a:prstGeom prst="line">
            <a:avLst/>
          </a:prstGeom>
          <a:noFill/>
          <a:ln w="12700">
            <a:solidFill>
              <a:srgbClr val="3B4787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85248" y="47548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91088" y="120700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36608" y="166420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230428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48288" y="285292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70848" y="267004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822960"/>
            <a:ext cx="2286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7132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12801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LoRA gives you a knob.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it up for performance, down for parameter-efficiency.</a:t>
            </a: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setup, it doesn't replace full fine-tuning — but it tracks it remarkably well.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22960" y="3749040"/>
            <a:ext cx="3383280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3B478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749040"/>
            <a:ext cx="91440" cy="1920240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0233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Monotonic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1051560" y="4846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↑  ⇒  loss ↓ (every step of the sweep)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80560" y="3749040"/>
            <a:ext cx="3383280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3B478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3749040"/>
            <a:ext cx="91440" cy="1920240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40233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0.06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4709160" y="4846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LoRA loss at r = 256, attention only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38160" y="3749040"/>
            <a:ext cx="3383280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3B478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38160" y="3749040"/>
            <a:ext cx="91440" cy="1920240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66760" y="40233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knob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8366760" y="4846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gives a clean efficiency / quality dial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→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548640"/>
            <a:ext cx="1005840" cy="731520"/>
          </a:xfrm>
          <a:prstGeom prst="line">
            <a:avLst/>
          </a:prstGeom>
          <a:noFill/>
          <a:ln w="12700">
            <a:solidFill>
              <a:srgbClr val="3B4787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548640"/>
            <a:ext cx="-548640" cy="1188720"/>
          </a:xfrm>
          <a:prstGeom prst="line">
            <a:avLst/>
          </a:prstGeom>
          <a:noFill/>
          <a:ln w="12700">
            <a:solidFill>
              <a:srgbClr val="3B4787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64240" y="1280160"/>
            <a:ext cx="-1554480" cy="457200"/>
          </a:xfrm>
          <a:prstGeom prst="line">
            <a:avLst/>
          </a:prstGeom>
          <a:noFill/>
          <a:ln w="12700">
            <a:solidFill>
              <a:srgbClr val="3B4787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1280160"/>
            <a:ext cx="-365760" cy="1097280"/>
          </a:xfrm>
          <a:prstGeom prst="line">
            <a:avLst/>
          </a:prstGeom>
          <a:noFill/>
          <a:ln w="12700">
            <a:solidFill>
              <a:srgbClr val="3B4787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0" y="1737360"/>
            <a:ext cx="-365760" cy="1005840"/>
          </a:xfrm>
          <a:prstGeom prst="line">
            <a:avLst/>
          </a:prstGeom>
          <a:noFill/>
          <a:ln w="12700">
            <a:solidFill>
              <a:srgbClr val="3B4787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0" y="2377440"/>
            <a:ext cx="822960" cy="548640"/>
          </a:xfrm>
          <a:prstGeom prst="line">
            <a:avLst/>
          </a:prstGeom>
          <a:noFill/>
          <a:ln w="12700">
            <a:solidFill>
              <a:srgbClr val="3B4787">
                <a:alpha val="7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98480" y="2377440"/>
            <a:ext cx="-1554480" cy="365760"/>
          </a:xfrm>
          <a:prstGeom prst="line">
            <a:avLst/>
          </a:prstGeom>
          <a:noFill/>
          <a:ln w="12700">
            <a:solidFill>
              <a:srgbClr val="3B4787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85248" y="47548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91088" y="120700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36608" y="166420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25328" y="230428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48288" y="285292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70848" y="267004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822960"/>
            <a:ext cx="2286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7132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12801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did what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822960" y="2240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partnership on the codebase, with distinct lead roles in the details.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3063240"/>
            <a:ext cx="352044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3B478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063240"/>
            <a:ext cx="352044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20240" y="3429000"/>
            <a:ext cx="868680" cy="86868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0240" y="3429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777240" y="44348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Revak Sai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7240" y="481888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22b1038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125980" y="5212080"/>
            <a:ext cx="457200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3949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coding work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on integrating LoRA into the TokenGT codebase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20540" y="3063240"/>
            <a:ext cx="352044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3B478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20540" y="3063240"/>
            <a:ext cx="35204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46420" y="3429000"/>
            <a:ext cx="868680" cy="8686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46420" y="3429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3800" dirty="0"/>
          </a:p>
        </p:txBody>
      </p:sp>
      <p:sp>
        <p:nvSpPr>
          <p:cNvPr id="31" name="Text 29"/>
          <p:cNvSpPr/>
          <p:nvPr/>
        </p:nvSpPr>
        <p:spPr>
          <a:xfrm>
            <a:off x="4503420" y="44348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Maloth Vishal Nayak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03420" y="481888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22b1015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852160" y="5212080"/>
            <a:ext cx="4572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94860" y="53949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coding work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Co-author of the report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046720" y="3063240"/>
            <a:ext cx="3520440" cy="3200400"/>
          </a:xfrm>
          <a:prstGeom prst="rect">
            <a:avLst/>
          </a:prstGeom>
          <a:solidFill>
            <a:srgbClr val="1E2761"/>
          </a:solidFill>
          <a:ln w="12700">
            <a:solidFill>
              <a:srgbClr val="3B478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46720" y="3063240"/>
            <a:ext cx="35204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372600" y="3429000"/>
            <a:ext cx="868680" cy="8686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72600" y="34290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</a:t>
            </a:r>
            <a:endParaRPr lang="en-US" sz="3800" dirty="0"/>
          </a:p>
        </p:txBody>
      </p:sp>
      <p:sp>
        <p:nvSpPr>
          <p:cNvPr id="39" name="Text 37"/>
          <p:cNvSpPr/>
          <p:nvPr/>
        </p:nvSpPr>
        <p:spPr>
          <a:xfrm>
            <a:off x="8229600" y="44348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Harsha Vardhan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229600" y="481888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22b0977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578340" y="5212080"/>
            <a:ext cx="4572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21040" y="53949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coding work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Co-author of the report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hyperparameters to test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715000" y="6446520"/>
            <a:ext cx="731520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Parameter-Efficient Adaptation of TokenGT using LoRA</dc:title>
  <dc:subject>PptxGenJS Presentation</dc:subject>
  <dc:creator>Revak Sai, Maloth Vishal Nayak, N Harsha Vardhan</dc:creator>
  <cp:lastModifiedBy>Revak Sai, Maloth Vishal Nayak, N Harsha Vardhan</cp:lastModifiedBy>
  <cp:revision>1</cp:revision>
  <dcterms:created xsi:type="dcterms:W3CDTF">2026-05-10T09:39:51Z</dcterms:created>
  <dcterms:modified xsi:type="dcterms:W3CDTF">2026-05-10T09:39:51Z</dcterms:modified>
</cp:coreProperties>
</file>